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A0B991"/>
                </a:solidFill>
              </a:defRPr>
            </a:pPr>
            <a:r>
              <a:t>FULL-STACK SDE INTERVIEW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DEVFLOW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2CDC3"/>
                </a:solidFill>
              </a:defRPr>
            </a:pPr>
            <a:r>
              <a:t>Developer Productivity Workspace &amp; Algorithmic Spaced Repetition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React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Node.js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Express.js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MongoDB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Spaced Repetition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4023360"/>
            <a:ext cx="1554480" cy="411480"/>
          </a:xfrm>
          <a:prstGeom prst="roundRect">
            <a:avLst/>
          </a:prstGeom>
          <a:solidFill>
            <a:srgbClr val="26262A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DCDCDC"/>
                </a:solidFill>
              </a:defRPr>
            </a:pPr>
            <a:r>
              <a:t>Grounded AI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8C8A82"/>
                </a:solidFill>
              </a:defRPr>
            </a:pPr>
            <a:r>
              <a:t>Designed for High-Yield Technical Coding &amp; System Architecture Interviews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What is DevFlow &amp; What Problem Does It Solve?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A03C3C"/>
                </a:solidFill>
              </a:defRPr>
            </a:pPr>
            <a:r>
              <a:t>THE PROBLEM: MEMORY DECAY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Software engineers solve 200+ LeetCode problems but forget core patterns after 2-3 weeks.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Without structured revision, candidates suffer from exponential memory decay (Ebbinghaus curve).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Disorganized prep: problem links, messy scratchpads, and notes are scattered across different apps.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Mock interviews lack personalized technical questions grounded in the candidate's actual projects.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657858"/>
                </a:solidFill>
              </a:defRPr>
            </a:pPr>
            <a:r>
              <a:t>THE SOLUTION: AUTOMATED RETENTION WORKSPACE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Automated Spaced Repetition: Scheduling review intervals at Day 1, 3, 7, 15, and 30 upon solving.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Centralized DSA Tracker: Platform, topic, difficulty, solve timers, and direct LeetCode/GFG URLs.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Markdown Notes &amp; Snippets: Problem-linked technical notebook with tag filtering and code snippets.</a:t>
            </a:r>
          </a:p>
          <a:p>
            <a:pPr>
              <a:spcAft>
                <a:spcPts val="1200"/>
              </a:spcAft>
              <a:defRPr sz="1200">
                <a:solidFill>
                  <a:srgbClr val="575653"/>
                </a:solidFill>
              </a:defRPr>
            </a:pPr>
            <a:r>
              <a:t>• Grounded AI Intelligence: Resume ATS keyword audit + dynamic, non-repetitive interview question generator with offline heuristic fallback.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Decoupled Client-Server &amp; Resilient AI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657858"/>
                </a:solidFill>
              </a:defRPr>
            </a:pPr>
            <a:r>
              <a:t>React 19 SPA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Vite 8 + Tailwind CSS v4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Centralized api.js client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AuthContext &amp; ProtectedRoute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Warm editorial UI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657858"/>
                </a:solidFill>
              </a:defRPr>
            </a:pPr>
            <a:r>
              <a:t>Express 5 API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Node.js V8 Event Loop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JWT Bearer verification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Decoupled Routes &amp; Controllers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Centralized errorHandler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657858"/>
                </a:solidFill>
              </a:defRPr>
            </a:pPr>
            <a:r>
              <a:t>Service Layer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problemService (CRUD &amp; schedule)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revisionService (Intervals math)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analyticsService (Aggregations)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aiService (Provider orchestrator)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b="1" sz="1500">
                <a:solidFill>
                  <a:srgbClr val="657858"/>
                </a:solidFill>
              </a:defRPr>
            </a:pPr>
            <a:r>
              <a:t>Data &amp; AI Layer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MongoDB + Mongoose Models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Compound Indexes ({user:1, status:1})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OpenAI (gpt-4o) / Gemini Flash</a:t>
            </a:r>
          </a:p>
          <a:p>
            <a:pPr>
              <a:spcAft>
                <a:spcPts val="1000"/>
              </a:spcAft>
              <a:defRPr sz="1100">
                <a:solidFill>
                  <a:srgbClr val="575653"/>
                </a:solidFill>
              </a:defRPr>
            </a:pPr>
            <a:r>
              <a:t>✔ Deterministic Heuristic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TECHNOLOGY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Production Stack &amp; Architectural Rationale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41148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TECHNOLOGY           CATEGORY          WHY CHOSEN IN DEVFLOW                                       ALTERNATIVE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React 19           | Frontend   | Fast virtual DOM diffing, component modularity, massive ecosystem | Vue / Angular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2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Tailwind v4        | Styling    | Zero runtime overhead, atomic CSS generation, custom design tokens | Styled Components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00984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Node.js            | Runtime    | Single language across stack; asynchronous non-blocking event loop | Java Spring Boot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22776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Express 5          | Backend    | Minimalist, flexible middleware pipeline, transparent request lifecycle | NestJS / Fastify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44568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MongoDB            | Database   | Document model fits polymorphic notes and nested AI structured data |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66359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JWT Auth           | Security   | Stateless tokens eliminate per-request database session lookups   | Server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88151"/>
            <a:ext cx="10698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>
                <a:solidFill>
                  <a:srgbClr val="18181B"/>
                </a:solidFill>
              </a:defRPr>
            </a:pPr>
            <a:r>
              <a:t>AI Pipeline        | Intelligence | OpenAI &amp; Gemini APIs with deterministic heuristic fallback engine | Self-hosted LLMs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ALGORITHMIC 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Automated 5-Stage Spaced Repetition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965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57858"/>
                </a:solidFill>
              </a:defRPr>
            </a:pPr>
            <a:r>
              <a:t>Day 1</a:t>
            </a:r>
          </a:p>
          <a:p>
            <a:pPr>
              <a:spcAft>
                <a:spcPts val="1000"/>
              </a:spcAft>
              <a:defRPr sz="1100" b="1">
                <a:solidFill>
                  <a:srgbClr val="18181B"/>
                </a:solidFill>
              </a:defRPr>
            </a:pPr>
            <a:r>
              <a:t>+24 Hours</a:t>
            </a:r>
          </a:p>
          <a:p>
            <a:pPr>
              <a:defRPr sz="1000">
                <a:solidFill>
                  <a:srgbClr val="575653"/>
                </a:solidFill>
              </a:defRPr>
            </a:pPr>
            <a:r>
              <a:t>Arrests initial 70% memory decay; reinforces core problem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645920"/>
            <a:ext cx="1965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57858"/>
                </a:solidFill>
              </a:defRPr>
            </a:pPr>
            <a:r>
              <a:t>Day 3</a:t>
            </a:r>
          </a:p>
          <a:p>
            <a:pPr>
              <a:spcAft>
                <a:spcPts val="1000"/>
              </a:spcAft>
              <a:defRPr sz="1100" b="1">
                <a:solidFill>
                  <a:srgbClr val="18181B"/>
                </a:solidFill>
              </a:defRPr>
            </a:pPr>
            <a:r>
              <a:t>+72 Hours</a:t>
            </a:r>
          </a:p>
          <a:p>
            <a:pPr>
              <a:defRPr sz="1000">
                <a:solidFill>
                  <a:srgbClr val="575653"/>
                </a:solidFill>
              </a:defRPr>
            </a:pPr>
            <a:r>
              <a:t>Validates pattern recognition without looking at original code.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645920"/>
            <a:ext cx="1965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57858"/>
                </a:solidFill>
              </a:defRPr>
            </a:pPr>
            <a:r>
              <a:t>Day 7</a:t>
            </a:r>
          </a:p>
          <a:p>
            <a:pPr>
              <a:spcAft>
                <a:spcPts val="1000"/>
              </a:spcAft>
              <a:defRPr sz="1100" b="1">
                <a:solidFill>
                  <a:srgbClr val="18181B"/>
                </a:solidFill>
              </a:defRPr>
            </a:pPr>
            <a:r>
              <a:t>+1 Week</a:t>
            </a:r>
          </a:p>
          <a:p>
            <a:pPr>
              <a:defRPr sz="1000">
                <a:solidFill>
                  <a:srgbClr val="575653"/>
                </a:solidFill>
              </a:defRPr>
            </a:pPr>
            <a:r>
              <a:t>Tests edge case handling, space/time complexity proof.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1965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57858"/>
                </a:solidFill>
              </a:defRPr>
            </a:pPr>
            <a:r>
              <a:t>Day 15</a:t>
            </a:r>
          </a:p>
          <a:p>
            <a:pPr>
              <a:spcAft>
                <a:spcPts val="1000"/>
              </a:spcAft>
              <a:defRPr sz="1100" b="1">
                <a:solidFill>
                  <a:srgbClr val="18181B"/>
                </a:solidFill>
              </a:defRPr>
            </a:pPr>
            <a:r>
              <a:t>+2 Weeks</a:t>
            </a:r>
          </a:p>
          <a:p>
            <a:pPr>
              <a:defRPr sz="1000">
                <a:solidFill>
                  <a:srgbClr val="575653"/>
                </a:solidFill>
              </a:defRPr>
            </a:pPr>
            <a:r>
              <a:t>Simulates realistic interview setting under timed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645920"/>
            <a:ext cx="196596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57858"/>
                </a:solidFill>
              </a:defRPr>
            </a:pPr>
            <a:r>
              <a:t>Day 30</a:t>
            </a:r>
          </a:p>
          <a:p>
            <a:pPr>
              <a:spcAft>
                <a:spcPts val="1000"/>
              </a:spcAft>
              <a:defRPr sz="1100" b="1">
                <a:solidFill>
                  <a:srgbClr val="18181B"/>
                </a:solidFill>
              </a:defRPr>
            </a:pPr>
            <a:r>
              <a:t>+1 Month</a:t>
            </a:r>
          </a:p>
          <a:p>
            <a:pPr>
              <a:defRPr sz="1000">
                <a:solidFill>
                  <a:srgbClr val="575653"/>
                </a:solidFill>
              </a:defRPr>
            </a:pPr>
            <a:r>
              <a:t>Consolidates pattern into permanent long-term developer recall.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657858"/>
                </a:solidFill>
              </a:defRPr>
            </a:pPr>
            <a:r>
              <a:t>UNDER THE HOOD: revisionService.js</a:t>
            </a:r>
          </a:p>
          <a:p>
            <a:pPr>
              <a:defRPr sz="1050">
                <a:solidFill>
                  <a:srgbClr val="575653"/>
                </a:solidFill>
              </a:defRPr>
            </a:pPr>
            <a:r>
              <a:t>When problem status changes to 'Solved' -&gt; revisionService.scheduleProblemRevisions() runs Revision.insertMany().</a:t>
            </a:r>
            <a:br/>
            <a:r>
              <a:t>When user completes review -&gt; increments revisionCount via $inc, records confidence ('low'/'med'/'high'), and dynamically advances nextRevisionDate.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DATABASE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MongoDB Schema Relationships &amp; Compound Indexing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57858"/>
                </a:solidFill>
              </a:defRPr>
            </a:pPr>
            <a:r>
              <a:t>DATA MODELS &amp; RELATIONSHIPS</a:t>
            </a:r>
          </a:p>
          <a:p>
            <a:pPr>
              <a:spcAft>
                <a:spcPts val="600"/>
              </a:spcAft>
              <a:defRPr sz="1050">
                <a:solidFill>
                  <a:srgbClr val="575653"/>
                </a:solidFill>
              </a:defRPr>
            </a:pPr>
            <a:r>
              <a:t>• User: name, email, password (bcrypt), isVerified, targetRole, skills</a:t>
            </a:r>
          </a:p>
          <a:p>
            <a:pPr>
              <a:spcAft>
                <a:spcPts val="600"/>
              </a:spcAft>
              <a:defRPr sz="1050">
                <a:solidFill>
                  <a:srgbClr val="575653"/>
                </a:solidFill>
              </a:defRPr>
            </a:pPr>
            <a:r>
              <a:t>• Problem: title, platform, difficulty, topic, status, solvedDate, user (Ref: User)</a:t>
            </a:r>
          </a:p>
          <a:p>
            <a:pPr>
              <a:spcAft>
                <a:spcPts val="600"/>
              </a:spcAft>
              <a:defRPr sz="1050">
                <a:solidFill>
                  <a:srgbClr val="575653"/>
                </a:solidFill>
              </a:defRPr>
            </a:pPr>
            <a:r>
              <a:t>• Revision: problem (Ref: Problem), user (Ref: User), scheduledDate, status, revisionNumber</a:t>
            </a:r>
          </a:p>
          <a:p>
            <a:pPr>
              <a:spcAft>
                <a:spcPts val="600"/>
              </a:spcAft>
              <a:defRPr sz="1050">
                <a:solidFill>
                  <a:srgbClr val="575653"/>
                </a:solidFill>
              </a:defRPr>
            </a:pPr>
            <a:r>
              <a:t>• Note: title, content (Markdown), tags, problem (Ref: Problem), user (Ref: User)</a:t>
            </a:r>
          </a:p>
          <a:p>
            <a:pPr>
              <a:spcAft>
                <a:spcPts val="600"/>
              </a:spcAft>
              <a:defRPr sz="1050">
                <a:solidFill>
                  <a:srgbClr val="575653"/>
                </a:solidFill>
              </a:defRPr>
            </a:pPr>
            <a:r>
              <a:t>• Task: title, description, status, priority, user (Ref: User)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57858"/>
                </a:solidFill>
              </a:defRPr>
            </a:pPr>
            <a:r>
              <a:t>WHY COMPOUND INDEXES MATTER</a:t>
            </a:r>
          </a:p>
          <a:p>
            <a:pPr>
              <a:defRPr b="1" sz="1100">
                <a:solidFill>
                  <a:srgbClr val="18181B"/>
                </a:solidFill>
              </a:defRPr>
            </a:pPr>
            <a:r>
              <a:t>Actual Indexes in models/Problem.js:</a:t>
            </a:r>
          </a:p>
          <a:p>
            <a:pPr>
              <a:defRPr sz="1000">
                <a:solidFill>
                  <a:srgbClr val="325A8C"/>
                </a:solidFill>
              </a:defRPr>
            </a:pPr>
            <a:r>
              <a:t>  problemSchema.index({ user: 1, status: 1 });</a:t>
            </a:r>
          </a:p>
          <a:p>
            <a:pPr>
              <a:defRPr sz="1000">
                <a:solidFill>
                  <a:srgbClr val="325A8C"/>
                </a:solidFill>
              </a:defRPr>
            </a:pPr>
            <a:r>
              <a:t>  problemSchema.index({ user: 1, topic: 1 });</a:t>
            </a:r>
          </a:p>
          <a:p>
            <a:pPr>
              <a:defRPr sz="1000">
                <a:solidFill>
                  <a:srgbClr val="325A8C"/>
                </a:solidFill>
              </a:defRPr>
            </a:pPr>
            <a:r>
              <a:t>  problemSchema.index({ user: 1, difficulty: 1 });</a:t>
            </a:r>
          </a:p>
          <a:p>
            <a:pPr>
              <a:defRPr sz="1000">
                <a:solidFill>
                  <a:srgbClr val="325A8C"/>
                </a:solidFill>
              </a:defRPr>
            </a:pPr>
            <a:r>
              <a:t>  problemSchema.index({ user: 1, createdAt: -1 });</a:t>
            </a:r>
          </a:p>
          <a:p>
            <a:br/>
            <a:pPr>
              <a:defRPr sz="1050">
                <a:solidFill>
                  <a:srgbClr val="575653"/>
                </a:solidFill>
              </a:defRPr>
            </a:pPr>
            <a:r>
              <a:t>Interview Insight: Every query filters by req.user.userId. Without compound indexes, filtering by topic or status forces a full collection scan (COLLSCAN). Compound indexes enable efficient B-tree index scans (IXSCAN).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SECURITY &amp; AUTHENTICATION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Stateless JWT, OTP Verification &amp; Zero-Trust IDOR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400">
                <a:solidFill>
                  <a:srgbClr val="657858"/>
                </a:solidFill>
              </a:defRPr>
            </a:pPr>
            <a:r>
              <a:t>1. Signup &amp; Hash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User submits credentials.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bcryptjs hashes password with 10 salt rounds.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Generates 6-digit OTP (15m expiry).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400">
                <a:solidFill>
                  <a:srgbClr val="657858"/>
                </a:solidFill>
              </a:defRPr>
            </a:pPr>
            <a:r>
              <a:t>2. OTP Verify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User enters code.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Validates code &amp; expiration.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Marks isVerified = true.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Issues signed JWT (1d expiry).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400">
                <a:solidFill>
                  <a:srgbClr val="657858"/>
                </a:solidFill>
              </a:defRPr>
            </a:pPr>
            <a:r>
              <a:t>3. Auth Header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React stores token in localStorage.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Centralized api.js attaches: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Authorization: Bearer &lt;token&gt;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Auto-intercepts 401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400">
                <a:solidFill>
                  <a:srgbClr val="657858"/>
                </a:solidFill>
              </a:defRPr>
            </a:pPr>
            <a:r>
              <a:t>4. IDOR Defense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authMiddleware verifies JWT.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Extracts req.user = { userId }.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All DB queries enforce:</a:t>
            </a:r>
          </a:p>
          <a:p>
            <a:pPr>
              <a:spcAft>
                <a:spcPts val="600"/>
              </a:spcAft>
              <a:defRPr sz="1100">
                <a:solidFill>
                  <a:srgbClr val="575653"/>
                </a:solidFill>
              </a:defRPr>
            </a:pPr>
            <a:r>
              <a:t>{ _id: id, user: req.user.userId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AI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Multi-Tier Resilience: OpenAI, Gemini &amp; Heuristic Fallback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57858"/>
                </a:solidFill>
              </a:defRPr>
            </a:pPr>
            <a:r>
              <a:t>RESUME ANALYZER GUARDRAILS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Backend Proxy: API keys hidden; zero client key leakage.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Character Guardrails: Enforces 50 to 20,000 chars per input.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15s Timeout + Retries: AbortController with exponential backoff.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JSON Extraction: Strips markdown fences (```json) via extractJson().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Schema Normalization: validateAndNormalizeResume clamps scores (0-100) and ensures array structures.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✔ In-Memory Cache: Identical payloads served instantly via aiCache.js.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57858"/>
                </a:solidFill>
              </a:defRPr>
            </a:pPr>
            <a:r>
              <a:t>DYNAMIC INTERVIEW PREP &amp; FALLBACK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Zero Caching (skipCache: true): Generates fresh sets every time.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Temperature 0.8: Encourages token sampling diversity.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Anti-Duplication: Passes previousQuestions exclusion list.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Context Auto-fill: Solved topics and tasks auto-injected from profile.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DETERMINISTIC HEURISTIC FALLBACK:</a:t>
            </a:r>
          </a:p>
          <a:p>
            <a:pPr>
              <a:spcAft>
                <a:spcPts val="800"/>
              </a:spcAft>
              <a:defRPr sz="1050">
                <a:solidFill>
                  <a:srgbClr val="575653"/>
                </a:solidFill>
              </a:defRPr>
            </a:pPr>
            <a:r>
              <a:t>• If external LLMs fail or no API key is provided, our custom heuristicEngine.js uses an SDE taxonomy and regex metrics to ensure the app NEVER crashes.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57858"/>
                </a:solidFill>
              </a:defRPr>
            </a:pPr>
            <a:r>
              <a:t>ENGINEERING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8181B"/>
                </a:solidFill>
              </a:defRPr>
            </a:pPr>
            <a:r>
              <a:t>Real Technical Hurdles &amp; Architectural Trade-Offs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1. Memory Decay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70% pattern forgetting in 3 weeks.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Automated 5-stage spaced repetition on 'Solved'.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Increased database document writes per problem.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2. Fragile LLM Output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LLMs return markdown fences or omitted keys.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extractJson regex cleaner + score clamping.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Small CPU parsing overhead on API server.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3. Zero-Downtime AI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External rate limits (429) or missing API keys.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Internal rule-based SDE taxonomy heuristic engine.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Heuristics lack generative conversational nuance.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4. IDOR Security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URL parameter tampering across user data.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Strict scoping via req.user.userId from JWT.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Disallows simple multi-user public problem sharing.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5. Decoupled Sync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Modal problem creation not updating Dashboard.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Window-level custom events (devflow:problem-created).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Requires cleanup in useEffect to avoid memory leaks.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b="1" sz="1200">
                <a:solidFill>
                  <a:srgbClr val="657858"/>
                </a:solidFill>
              </a:defRPr>
            </a:pPr>
            <a:r>
              <a:t>6. Fresh Questions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Problem: Repeated AI questions for same resume.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Solution: Temperature 0.8 + previousQuestions exclusion.</a:t>
            </a:r>
          </a:p>
          <a:p>
            <a:pPr>
              <a:defRPr sz="950">
                <a:solidFill>
                  <a:srgbClr val="575653"/>
                </a:solidFill>
              </a:defRPr>
            </a:pPr>
            <a:r>
              <a:t>Trade-off: Bypassing cache increases external API token costs.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B4C8A0"/>
                </a:solidFill>
              </a:defRPr>
            </a:pPr>
            <a:r>
              <a:t>INTERVIEW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 Critical Things to Remember Before the Interview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202024"/>
          </a:solidFill>
          <a:ln w="12700">
            <a:solidFill>
              <a:srgbClr val="3C3C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b="1" sz="1300">
                <a:solidFill>
                  <a:srgbClr val="B4C8A0"/>
                </a:solidFill>
              </a:defRPr>
            </a:pPr>
            <a:r>
              <a:t>CORE TAKEAWAYS FOR MAXIMUM CONFIDENCE: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1. Always lead with the problem: 'DevFlow stops algorithmic memory decay using spaced repetition.'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2. The 5 intervals are Day 1, Day 3, Day 7, Day 15, and Day 30.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3. IDOR Defense: Every query scopes to req.user.userId from cryptographically verified JWT.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4. Compound indexes like { user: 1, status: 1 } enable fast index scans (IXSCAN).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5. Search uses sanitized regex across title and notes fields on the backend.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6. AI Security: API keys are strictly backend-only; requests are proxied and validated.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7. AI Resilience: The deterministic heuristic engine guarantees zero downtime without keys.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8. Dynamic Questions: Handled via temperature 0.8, zero caching, and previousQuestions list.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9. Real Codebase: Pricing page is informational/presentation; be honest about planned Stripe checkout.</a:t>
            </a:r>
          </a:p>
          <a:p>
            <a:pPr>
              <a:spcAft>
                <a:spcPts val="400"/>
              </a:spcAft>
              <a:defRPr sz="1100">
                <a:solidFill>
                  <a:srgbClr val="E1E1E1"/>
                </a:solidFill>
              </a:defRPr>
            </a:pPr>
            <a:r>
              <a:t>10. Architecture: React 19 SPA + Tailwind v4 editorial theme + Express 5 + MongoDB Mongoose.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